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AI AGENTS ORCHESTRATION</a:t>
            </a:r>
          </a:p>
          <a:p>
            <a:pPr>
              <a:spcBef>
                <a:spcPts val="1000"/>
              </a:spcBef>
              <a:defRPr sz="2200">
                <a:solidFill>
                  <a:srgbClr val="F97316"/>
                </a:solidFill>
              </a:defRPr>
            </a:pPr>
            <a:r>
              <a:t>Building Autonomous, Production-Grade AI Systems in Go &amp; Node.js</a:t>
            </a:r>
          </a:p>
          <a:p>
            <a:pPr>
              <a:spcBef>
                <a:spcPts val="2000"/>
              </a:spcBef>
              <a:defRPr sz="1600">
                <a:solidFill>
                  <a:srgbClr val="CBD5E1"/>
                </a:solidFill>
              </a:defRPr>
            </a:pPr>
            <a:r>
              <a:t>A Comprehensive Masterclass for Senior Software Engineers &amp; Architects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Format: Hands-on Workshop | Total Duration: 8 Hours (2 Sessions x 4h) | Tech Stack: Go, Node.js / TypeScript, GenAI SDKs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TRAINING PROGRAM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Executive Overview &amp; Core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Target Audience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</a:defRPr>
            </a:pPr>
            <a:r>
              <a:t>Senior Backend Engineers, Software Architects, and Tech Leads operating high-throughput Go microservices and Node.js BFFs.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Prerequisites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</a:defRPr>
            </a:pPr>
            <a:r>
              <a:t>Solid proficiency in Go (goroutines, channels) and Node.js / TypeScript. Familiarity with GitHub Copilot &amp; REST/gRPC APIs.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Core Objective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</a:defRPr>
            </a:pPr>
            <a:r>
              <a:t>Transition from single-prompt Copilot assistance to orchestrating autonomous, deterministic multi-agent systems in production.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TRAINING PROGRAM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Technology Stack &amp; Architecture Blueprint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2000" b="1">
                <a:solidFill>
                  <a:srgbClr val="F97316"/>
                </a:solidFill>
              </a:defRPr>
            </a:pPr>
            <a:r>
              <a:t>Backend Heavy-Lifting (Go)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High-concurrency Agent Loops using Goroutines &amp; Channels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Native Tool Calling &amp; Function Execution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State Management &amp; Memory Persistence (Redis/PostgreSQL)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Strict Schema Validation &amp; Deterministic Parsing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Official GenAI Go SDKs &amp; Custom Middleware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2000" b="1">
                <a:solidFill>
                  <a:srgbClr val="0284C7"/>
                </a:solidFill>
              </a:defRPr>
            </a:pPr>
            <a:r>
              <a:t>BFF &amp; Real-time UI (Node.js / TS)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LangChain.js &amp; Vercel AI SDK Integration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Real-time Streaming via Server-Sent Events (SSE) &amp; WebSockets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Agent Execution Progress &amp; Reasoning Visualization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Human-in-the-Loop (HITL) Approval Interfaces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Frontend State Management for Multi-step Workflows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MODULE 1 | 2 HOURS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Module 1: Agent Fundamentals &amp; Architectural Patterns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Key Topics Covered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✔ Evolution: From Prompt Engineering to Autonomous Systems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✔ Core Patterns: ReAct (Reason + Act), Reflection, and Planning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✔ Single-Agent vs. Multi-Agent Orchestration Topology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✔ Designing Tool Schemas for LLM Tool-Calling APIs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✔ Memory Layers: Short-Term Context vs. Long-Term Vector 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800" b="1">
                <a:solidFill>
                  <a:srgbClr val="F97316"/>
                </a:solidFill>
              </a:defRPr>
            </a:pPr>
            <a:r>
              <a:t>Hands-on Lab 1.1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t>Building a Pure ReAct Loop from Scratch (No Heavy Frameworks)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Implement a simple decision loop that receives a complex goal, breaks it into sub-tasks, calls a mock API tool, inspects the result, and iterates until goal completion.</a:t>
            </a:r>
          </a:p>
          <a:p>
            <a:pPr>
              <a:spcBef>
                <a:spcPts val="1400"/>
              </a:spcBef>
              <a:defRPr sz="1200" b="1">
                <a:solidFill>
                  <a:srgbClr val="0284C7"/>
                </a:solidFill>
              </a:defRPr>
            </a:pPr>
            <a:r>
              <a:t>Deliverable: A working CLI agent running deterministic tool-calling cycles.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MODULE 2 | 2 HOURS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Module 2: Building High-Performance Orchestrators in Go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4754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Focus Areas in Go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⚡ Concurrent Tool Execution with Go Channels and Context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⚡ Handling LLM Rate Limits &amp; Retry Strategies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⚡ State Machine Architecture for Agent Loops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⚡ JSON Schema Marshalling &amp; Unmarshalling for Tools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⚡ Integrating Go Microservices with Vector Stores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0" y="1645920"/>
            <a:ext cx="5669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100">
                <a:solidFill>
                  <a:srgbClr val="F97316"/>
                </a:solidFill>
              </a:defRPr>
            </a:pPr>
            <a:r>
              <a:t>// Go Concurrent Tool Dispatcher Snippet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func (a *Agent) ExecuteToolsConcurrently(ctx context.Context, calls []ToolCall) ([]ToolResult, error) {</a:t>
            </a:r>
            <a:br/>
            <a:r>
              <a:t>    g, ctx := errgroup.WithContext(ctx)</a:t>
            </a:r>
            <a:br/>
            <a:r>
              <a:t>    results := make([]ToolResult, len(calls))</a:t>
            </a:r>
            <a:br/>
            <a:br/>
            <a:r>
              <a:t>    for i, call := range calls {</a:t>
            </a:r>
            <a:br/>
            <a:r>
              <a:t>        i, call := i, call</a:t>
            </a:r>
            <a:br/>
            <a:r>
              <a:t>        g.Go(func() error {</a:t>
            </a:r>
            <a:br/>
            <a:r>
              <a:t>            res, err := a.tools[call.Name].Execute(ctx, call.Args)</a:t>
            </a:r>
            <a:br/>
            <a:r>
              <a:t>            if err != nil {</a:t>
            </a:r>
            <a:br/>
            <a:r>
              <a:t>                return fmt.Errorf("tool %s failed: %w", call.Name, err)</a:t>
            </a:r>
            <a:br/>
            <a:r>
              <a:t>            }</a:t>
            </a:r>
            <a:br/>
            <a:r>
              <a:t>            results[i] = ToolResult{CallID: call.ID, Output: res}</a:t>
            </a:r>
            <a:br/>
            <a:r>
              <a:t>            return nil</a:t>
            </a:r>
            <a:br/>
            <a:r>
              <a:t>        })</a:t>
            </a:r>
            <a:br/>
            <a:r>
              <a:t>    }</a:t>
            </a:r>
            <a:br/>
            <a:r>
              <a:t>    if err := g.Wait(); err != nil { return nil, err }</a:t>
            </a:r>
            <a:br/>
            <a:r>
              <a:t>    return results, nil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MODULE 3 | 2 HOURS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Module 3: Real-Time UI, Streaming &amp; Node.js Integration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Node.js &amp; Frontend Ecosystem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🌐 Building Real-Time Streaming Middleware (SSE / WebSockets)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🌐 Vercel AI SDK Data Stream Protocol Integration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🌐 Exposing Intermediate Agent Thoughts &amp; Tool Status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🌐 Human-in-the-Loop (HITL) Pause &amp; Resume Workflows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🌐 BFF Architecture: Node.js Orchestrating Go Microservices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800" b="1">
                <a:solidFill>
                  <a:srgbClr val="0284C7"/>
                </a:solidFill>
              </a:defRPr>
            </a:pPr>
            <a:r>
              <a:t>Hands-on Lab 3.1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t>Building an Agent Dashboard with Real-Time Execution Trace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Connect a Node.js server to the Go Agent backend via gRPC/REST SSE stream. Render live step-by-step reasoning ('Searching DB...', 'Executing SQL...', 'Generating Final Answer') on a web UI.</a:t>
            </a:r>
          </a:p>
          <a:p>
            <a:pPr>
              <a:spcBef>
                <a:spcPts val="1400"/>
              </a:spcBef>
              <a:defRPr sz="1200" b="1">
                <a:solidFill>
                  <a:srgbClr val="F97316"/>
                </a:solidFill>
              </a:defRPr>
            </a:pPr>
            <a:r>
              <a:t>Deliverable: Full-stack live dashboard with streaming agent feedback.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MODULE 4 | 2 HOURS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Module 4: AgentOps, Security, Cost &amp; Evaluation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Guardrails &amp; Security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Preventing Prompt Injection, Indirect Injection via retrieved data, and unauthorized tool execution with strict RBAC.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Observability &amp; Tracing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Tracing multi-step execution graphs using OpenTelemetry, LangSmith, or Phoenix to debug agent bottlenecks.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Cost &amp; Latency Control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Caching semantic queries, enforcing token budget caps, and setting circuit breakers for infinite loop prevention.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Automated Evals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Building continuous evaluation pipelines using LLM-as-a-judge to measure agent accuracy and tool success rates.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TRAINING PROGRAM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Training Materials &amp; Instructor Kit Checklist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Bef>
                <a:spcPts val="1000"/>
              </a:spcBef>
              <a:defRPr b="1" sz="1400">
                <a:solidFill>
                  <a:srgbClr val="0F172A"/>
                </a:solidFill>
              </a:defRPr>
            </a:pPr>
            <a:r>
              <a:t>• GitHub Repository Boilerplate: </a:t>
            </a:r>
            <a:r>
              <a:rPr b="0">
                <a:solidFill>
                  <a:srgbClr val="1E293B"/>
                </a:solidFill>
              </a:rPr>
              <a:t>Pre-configured Go microservice structure &amp; Node.js/TS frontend with mock APIs and vector store ready.</a:t>
            </a:r>
          </a:p>
          <a:p>
            <a:pPr>
              <a:spcBef>
                <a:spcPts val="1000"/>
              </a:spcBef>
              <a:defRPr b="1" sz="1400">
                <a:solidFill>
                  <a:srgbClr val="0F172A"/>
                </a:solidFill>
              </a:defRPr>
            </a:pPr>
            <a:r>
              <a:t>• Complete Slide Deck (.pptx): </a:t>
            </a:r>
            <a:r>
              <a:rPr b="0">
                <a:solidFill>
                  <a:srgbClr val="1E293B"/>
                </a:solidFill>
              </a:rPr>
              <a:t>Visual slides tailored for executive &amp; technical deep dives with architecture diagrams.</a:t>
            </a:r>
          </a:p>
          <a:p>
            <a:pPr>
              <a:spcBef>
                <a:spcPts val="1000"/>
              </a:spcBef>
              <a:defRPr b="1" sz="1400">
                <a:solidFill>
                  <a:srgbClr val="0F172A"/>
                </a:solidFill>
              </a:defRPr>
            </a:pPr>
            <a:r>
              <a:t>• Co-Instructor Talk Tracks &amp; Scripts: </a:t>
            </a:r>
            <a:r>
              <a:rPr b="0">
                <a:solidFill>
                  <a:srgbClr val="1E293B"/>
                </a:solidFill>
              </a:rPr>
              <a:t>Word-for-word explanations, analogies, and answers for tough student architecture questions.</a:t>
            </a:r>
          </a:p>
          <a:p>
            <a:pPr>
              <a:spcBef>
                <a:spcPts val="1000"/>
              </a:spcBef>
              <a:defRPr b="1" sz="1400">
                <a:solidFill>
                  <a:srgbClr val="0F172A"/>
                </a:solidFill>
              </a:defRPr>
            </a:pPr>
            <a:r>
              <a:t>• Hands-on Lab Worksheets &amp; Solutions: </a:t>
            </a:r>
            <a:r>
              <a:rPr b="0">
                <a:solidFill>
                  <a:srgbClr val="1E293B"/>
                </a:solidFill>
              </a:rPr>
              <a:t>Step-by-step student exercises + complete solution branches in GitHub.</a:t>
            </a:r>
          </a:p>
          <a:p>
            <a:pPr>
              <a:spcBef>
                <a:spcPts val="1000"/>
              </a:spcBef>
              <a:defRPr b="1" sz="1400">
                <a:solidFill>
                  <a:srgbClr val="0F172A"/>
                </a:solidFill>
              </a:defRPr>
            </a:pPr>
            <a:r>
              <a:t>• Live Debugging Cheat Sheet: </a:t>
            </a:r>
            <a:r>
              <a:rPr b="0">
                <a:solidFill>
                  <a:srgbClr val="1E293B"/>
                </a:solidFill>
              </a:rPr>
              <a:t>Instant fix guide for common AI errors during labs (infinite loops, schema mismatches, rate limits).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